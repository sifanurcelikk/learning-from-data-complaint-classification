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52BB41-964A-EE7E-EC99-0BD50E764DA1}" v="101" dt="2026-01-08T16:25:23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61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272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028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266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376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749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394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351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465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553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026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1/8/2026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892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pos="576">
          <p15:clr>
            <a:srgbClr val="F26B43"/>
          </p15:clr>
        </p15:guide>
        <p15:guide id="6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629" y="1709738"/>
            <a:ext cx="9094884" cy="2955974"/>
          </a:xfrm>
        </p:spPr>
        <p:txBody>
          <a:bodyPr anchor="b">
            <a:normAutofit fontScale="90000"/>
          </a:bodyPr>
          <a:lstStyle/>
          <a:p>
            <a:r>
              <a:rPr lang="en-US">
                <a:highlight>
                  <a:srgbClr val="FFFFFF"/>
                </a:highlight>
              </a:rPr>
              <a:t>LEARNING FROM DATA </a:t>
            </a:r>
            <a:br>
              <a:rPr lang="en-US">
                <a:highlight>
                  <a:srgbClr val="FFFFFF"/>
                </a:highlight>
              </a:rPr>
            </a:br>
            <a:br>
              <a:rPr lang="en-US">
                <a:highlight>
                  <a:srgbClr val="FFFFFF"/>
                </a:highlight>
              </a:rPr>
            </a:br>
            <a:br>
              <a:rPr lang="en-US">
                <a:highlight>
                  <a:srgbClr val="FFFFFF"/>
                </a:highlight>
              </a:rPr>
            </a:br>
            <a:endParaRPr lang="en-US">
              <a:highlight>
                <a:srgbClr val="FFFFFF"/>
              </a:highlight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7FD902E-0E6F-7820-9BDC-1BE92AA4A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4322567"/>
            <a:ext cx="7889079" cy="176988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latin typeface="Times New Roman"/>
                <a:cs typeface="Times New Roman"/>
              </a:rPr>
              <a:t>Multi-Class Classification of Consumer Complaints Using Machine Learning and Deep Learning Approaches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842F343-B46F-BFF4-185C-838531898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0198EE7C-B17D-4503-A590-1E039E283AF2}" type="datetime1">
              <a:pPr>
                <a:spcAft>
                  <a:spcPts val="600"/>
                </a:spcAft>
              </a:pPr>
              <a:t>1/8/2026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C10859C-9F30-91BD-6E1B-B115D8634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8ED44FD-E828-09EC-7C19-39462B846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576427A-7C13-1E1A-3B27-20B96F05E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+mj-lt"/>
                <a:cs typeface="+mj-lt"/>
              </a:rPr>
              <a:t>What the Baseline (Logistic Regression) Shows</a:t>
            </a:r>
            <a:endParaRPr lang="en-US" dirty="0"/>
          </a:p>
        </p:txBody>
      </p:sp>
      <p:pic>
        <p:nvPicPr>
          <p:cNvPr id="7" name="Picture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405E189-695A-1687-D62C-6F21AD503E4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-1051" t="-814" r="1100" b="-1900"/>
          <a:stretch>
            <a:fillRect/>
          </a:stretch>
        </p:blipFill>
        <p:spPr>
          <a:xfrm>
            <a:off x="6026413" y="951037"/>
            <a:ext cx="4782816" cy="5403042"/>
          </a:xfrm>
          <a:prstGeom prst="rect">
            <a:avLst/>
          </a:prstGeom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CFEED62-AEBA-F639-3B19-A0B87EE93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Even a simple baseline is very strong: TF-IDF captures keyword patterns that separate the classes well.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Train performance is higher, but the gap is not large, so there is no clear sign of severe overfitting.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Class-wise behavior suggests Transportation complaints contain more distinctive domain terms (e.g., trip/cancellation/ticket-related wording), making them easier to classify.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B2DE2-1320-F845-326A-0D0A9CFEC5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1E5A54-79CC-47E1-8A18-78118619ED05}" type="datetime1">
              <a:pPr>
                <a:spcAft>
                  <a:spcPts val="600"/>
                </a:spcAft>
              </a:pPr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7C700-73EB-6C1C-A43D-F50DEF14B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3B7F4-E6BF-DD60-43ED-17522B76E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682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38F46-9598-BDA5-BA51-32A3D671B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a typeface="+mj-lt"/>
                <a:cs typeface="+mj-lt"/>
              </a:rPr>
              <a:t>Model Comparison: Why MLP + SVD Performs Best</a:t>
            </a:r>
            <a:endParaRPr lang="en-US" dirty="0"/>
          </a:p>
        </p:txBody>
      </p:sp>
      <p:pic>
        <p:nvPicPr>
          <p:cNvPr id="8" name="Picture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9134D1D-3817-77A8-4DB7-BEC67D8BEDE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-1387" t="-842" r="1387" b="4882"/>
          <a:stretch>
            <a:fillRect/>
          </a:stretch>
        </p:blipFill>
        <p:spPr>
          <a:xfrm>
            <a:off x="5183188" y="987425"/>
            <a:ext cx="6172206" cy="4880833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66B795-22CC-4831-1A08-BD20835F6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Linear models (Logistic Regression / Linear SVM) typically work very well on TF-IDF because many text patterns are close to linearly separable.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SVD</a:t>
            </a:r>
            <a:r>
              <a:rPr lang="en-US" dirty="0">
                <a:ea typeface="+mn-lt"/>
                <a:cs typeface="+mn-lt"/>
              </a:rPr>
              <a:t> compresses high-dimensional TF-IDF into a denser, lower-noise representation, which helps the neural model learn better decision boundaries.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As a result, MLP + SVD achieves the most balanced performance and the highest Macro F1.</a:t>
            </a:r>
            <a:endParaRPr lang="en-US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3B2E45-9343-C7A0-15FB-8ABAE3C85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9B8B-6C9D-4CFB-B68D-C1C4D07260A1}" type="datetime1">
              <a:t>1/8/2026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71AA5-515A-C734-9311-6A101E8BC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353DC4-24F1-7921-94C3-D1A31C8F4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458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9FD5F-5FEF-FF10-1CDF-C62D5C0A4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Final Test Performance: Generalization Insight</a:t>
            </a:r>
          </a:p>
          <a:p>
            <a:endParaRPr lang="en-US"/>
          </a:p>
          <a:p>
            <a:endParaRPr lang="en-US"/>
          </a:p>
          <a:p>
            <a:endParaRPr lang="en-US" dirty="0"/>
          </a:p>
        </p:txBody>
      </p:sp>
      <p:pic>
        <p:nvPicPr>
          <p:cNvPr id="8" name="Picture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F5F7D8-FCEC-55C9-5C08-104020A5E05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0242" r="10242"/>
          <a:stretch/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FE4ADC-4BAC-FA46-5E16-6D292E2BD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Strong test results indicate the model is not just memorizing the training data and can generalize to unseen complaints.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 high </a:t>
            </a:r>
            <a:r>
              <a:rPr lang="en-US" b="1">
                <a:ea typeface="+mn-lt"/>
                <a:cs typeface="+mn-lt"/>
              </a:rPr>
              <a:t>Macro F1</a:t>
            </a:r>
            <a:r>
              <a:rPr lang="en-US">
                <a:ea typeface="+mn-lt"/>
                <a:cs typeface="+mn-lt"/>
              </a:rPr>
              <a:t> also means performance is reasonably balanced across classes, not dominated by a single category.</a:t>
            </a:r>
            <a:endParaRPr lang="en-US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AAE6CA-FB2A-4344-6329-6FD3E4D3F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5D232-9C16-4873-AB9C-98E01146C7C6}" type="datetime1">
              <a:t>1/8/2026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43E1F-1A26-2062-3FDA-131BA489D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E560D-FCE6-5CA4-1CF7-62B301D55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428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FFD1B-CB56-A323-A3D9-0AEF39949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a typeface="+mj-lt"/>
                <a:cs typeface="+mj-lt"/>
              </a:rPr>
              <a:t>Confusion Matrix: Why Banking ↔ Telecommunication Confuse</a:t>
            </a:r>
            <a:endParaRPr lang="en-US" dirty="0"/>
          </a:p>
        </p:txBody>
      </p:sp>
      <p:pic>
        <p:nvPicPr>
          <p:cNvPr id="8" name="Picture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948CB1C-177E-F7B8-B9F9-FB77B6DA170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6826" r="6826"/>
          <a:stretch/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3725FA-69E5-1119-3CFF-047996DD1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3291937"/>
            <a:ext cx="3864652" cy="2571795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Banking and Telecommunication complaints often share similar wording such as billing/fees/charges/customer support, which increases confusion.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Transportation texts usually include more domain-specific cues, so they are misclassified less often.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To reduce Banking–Telecommunication confusion, richer semantic representations (embeddings/transformers) or more category-specific data could help.</a:t>
            </a:r>
            <a:endParaRPr lang="en-US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9613BE-7772-612D-ED7C-968F01338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F5F46-5F13-400E-AD0A-6BE1ADF27238}" type="datetime1">
              <a:t>1/8/2026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D4DB8-B035-9482-10BC-B5DB4D282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8414E-4324-02EA-0A95-A372E132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433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0165F-5E02-81E6-16B7-DCC84D6FA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a typeface="+mj-lt"/>
                <a:cs typeface="+mj-lt"/>
              </a:rPr>
              <a:t>Learning Curve: Bias–Variance Interpretation</a:t>
            </a:r>
            <a:endParaRPr lang="en-US" dirty="0"/>
          </a:p>
        </p:txBody>
      </p:sp>
      <p:pic>
        <p:nvPicPr>
          <p:cNvPr id="8" name="Picture Placeholder 7" descr="A graph with orange and blue lines&#10;&#10;AI-generated content may be incorrect.">
            <a:extLst>
              <a:ext uri="{FF2B5EF4-FFF2-40B4-BE49-F238E27FC236}">
                <a16:creationId xmlns:a16="http://schemas.microsoft.com/office/drawing/2014/main" id="{07A66630-AF79-8B47-05DB-7DBCE615CF6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3491" r="13491"/>
          <a:stretch/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4C99AC-18BD-B918-94B4-E695A83FD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The cross-validation score improves as more data is used, meaning additional training data directly helps the model.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The convergence trend between training and CV curves suggests improving generalization and a healthier bias–variance balance.</a:t>
            </a:r>
            <a:endParaRPr lang="en-US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5266A-4189-F5D1-ABD1-322B596C5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EE246-532E-41AF-8CF4-A47F7D9FEBBF}" type="datetime1">
              <a:t>1/8/2026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B6E12-41E2-FDFF-AD24-D65152F58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14A59-C381-E631-8DCC-BEC9CFD23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769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8F3E5-2734-542C-02C0-DE46E0FD7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Manual Tests: Real-World Behavior</a:t>
            </a:r>
            <a:endParaRPr lang="en-US" dirty="0"/>
          </a:p>
        </p:txBody>
      </p:sp>
      <p:pic>
        <p:nvPicPr>
          <p:cNvPr id="8" name="Picture Placeholder 7" descr="A white box with black text&#10;&#10;AI-generated content may be incorrect.">
            <a:extLst>
              <a:ext uri="{FF2B5EF4-FFF2-40B4-BE49-F238E27FC236}">
                <a16:creationId xmlns:a16="http://schemas.microsoft.com/office/drawing/2014/main" id="{7AAC7452-3E20-1DD1-52E6-AA192C229A2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28" r="6799" b="-125"/>
          <a:stretch>
            <a:fillRect/>
          </a:stretch>
        </p:blipFill>
        <p:spPr>
          <a:xfrm>
            <a:off x="5114694" y="1715176"/>
            <a:ext cx="6414368" cy="210570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3C220-FDEE-2AE2-EE2D-B0D31C127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The model performs very well on complaints that contain clear domain cues.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Errors mostly happen for short or ambiguous texts that do not include strong category keywords.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This is expected in real-world settings; more context and stronger language models can reduce such errors.</a:t>
            </a:r>
            <a:endParaRPr lang="en-US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720D16-AD7B-C023-13BD-0227EA6B9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5EBA-B152-4616-A7F1-558ADEB9C1E1}" type="datetime1">
              <a:t>1/8/2026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32882-F181-D794-F928-0A87CE9DD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A77A33-6466-24F6-A772-8141501A1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021190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DashVTI</vt:lpstr>
      <vt:lpstr>LEARNING FROM DATA    </vt:lpstr>
      <vt:lpstr>What the Baseline (Logistic Regression) Shows</vt:lpstr>
      <vt:lpstr>Model Comparison: Why MLP + SVD Performs Best</vt:lpstr>
      <vt:lpstr>Final Test Performance: Generalization Insight   </vt:lpstr>
      <vt:lpstr>Confusion Matrix: Why Banking ↔ Telecommunication Confuse</vt:lpstr>
      <vt:lpstr>Learning Curve: Bias–Variance Interpretation</vt:lpstr>
      <vt:lpstr>Manual Tests: Real-World Behavior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65</cp:revision>
  <dcterms:created xsi:type="dcterms:W3CDTF">2026-01-08T15:58:15Z</dcterms:created>
  <dcterms:modified xsi:type="dcterms:W3CDTF">2026-01-08T16:25:24Z</dcterms:modified>
</cp:coreProperties>
</file>